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Fira Sans Extra Condensed ExtraBold"/>
      <p:regular r:id="rId201314"/>
    </p:embeddedFont>
    <p:embeddedFont>
      <p:font typeface="PT Mono"/>
      <p:regular r:id="rId201315"/>
    </p:embeddedFont>
    <p:embeddedFont>
      <p:font typeface="PT Sans"/>
      <p:regular r:id="rId201316"/>
    </p:embeddedFont>
    <p:embeddedFont>
      <p:font typeface="P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короткой тишины. Не раскрывайте тему заранее: дайте словам «Один момент» прозвучать как самостоятельной просьбе.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вспомнить движение, которое обычно происходит автоматически: подойти, взяться за ручку, войти. Сейчас остановитесь перед этим движением. Сделайте паузу и в самой 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Произнесите фразу спокойно, с настоящей вопросительной интонацией. Обращение к двери непривычно, поэтому его легко заметить. Смысл упражнения в том, чтобы прервать автоматическое действие и осознанно выбрать следующий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Пауза даёт возможность заметить себя перед действием. Контроль здесь означает выбор собственного темпа и следующего шага. Уважение начинается с внимания к границе и к тем, кто находится по другую сторону. Не обещайте гарантированного эффекта: предложите проверить это на собственном опыте.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простое обязательство: сегодня попробовать три раза. Если повторять упражнение трижды в день, за семь дней получится двадцать одна попытка. Это число повторений, а не обещание сформировать привычку за неделю. Начать можно у следующей двери.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разбор приёмов, предусмотренных для устного выступления. Примеры социального доказательства и авторитета должны опираться на реальные, проверенные сведения. Термины loss aversion и future pacing означают неприятие потерь и мысленное представление будущего опыта. Не представляйте перечень приёмов как доказательство эффективности упражнения.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Поблагодарите аудиторию и выдержите короткую паузу. Не добавляйте нового тезиса.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1E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C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C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2050256"/>
            <a:ext cx="2692333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2579464"/>
            <a:ext cx="10769331" cy="244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11200" spc="-112" kern="1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ОДИН</a:t>
            </a:r>
            <a:endParaRPr lang="en-US" sz="11200" dirty="0"/>
          </a:p>
          <a:p>
            <a:pPr algn="l" indent="0" marL="0">
              <a:lnSpc>
                <a:spcPct val="72000"/>
              </a:lnSpc>
              <a:buNone/>
            </a:pPr>
            <a:r>
              <a:rPr lang="en-US" sz="11200" spc="-112" kern="1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МОМЕНТ</a:t>
            </a:r>
            <a:endParaRPr lang="en-US" sz="1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533352"/>
            <a:ext cx="1523962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998807"/>
            <a:ext cx="6095848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600" spc="-76" kern="1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ОСТАНОВИТЕСЬ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09585" y="3913505"/>
            <a:ext cx="6705432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6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Пауза перед входом.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1566" y="6540500"/>
            <a:ext cx="7480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613569"/>
            <a:ext cx="670543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3F4E61"/>
                </a:solidFill>
                <a:latin typeface="PT Mono" pitchFamily="34" charset="0"/>
                <a:ea typeface="PT Mono" pitchFamily="34" charset="-122"/>
                <a:cs typeface="PT Mono" pitchFamily="34" charset="-120"/>
              </a:rPr>
              <a:t>ЗДРАВСТВУЙ, ДВЕРЬ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263" y="2229247"/>
            <a:ext cx="1523962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5" name="Text 2"/>
          <p:cNvSpPr/>
          <p:nvPr/>
        </p:nvSpPr>
        <p:spPr>
          <a:xfrm>
            <a:off x="5486263" y="2680414"/>
            <a:ext cx="6095848" cy="226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6600" spc="-66" kern="1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«ЗДРАВСТВУЙ, ДВЕРЬ.</a:t>
            </a:r>
            <a:endParaRPr lang="en-US" sz="66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6600" spc="-66" kern="1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МОЖНО ВОЙТИ?»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262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ЧТО ВЫ ПОЛУЧИТЕ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3371572"/>
            <a:ext cx="3428914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2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ПАУЗА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495688" y="3371572"/>
            <a:ext cx="3200320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2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КОНТРОЛЬ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53196" y="3371572"/>
            <a:ext cx="3428914" cy="62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2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УВАЖЕНИЕ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09585" y="6143724"/>
            <a:ext cx="2743131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7" name="Shape 5"/>
          <p:cNvSpPr/>
          <p:nvPr/>
        </p:nvSpPr>
        <p:spPr>
          <a:xfrm>
            <a:off x="4260743" y="2923580"/>
            <a:ext cx="12700" cy="138936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8" name="Shape 6"/>
          <p:cNvSpPr/>
          <p:nvPr/>
        </p:nvSpPr>
        <p:spPr>
          <a:xfrm>
            <a:off x="7918252" y="2923580"/>
            <a:ext cx="12700" cy="138936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9" name="Text 7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2623"/>
            <a:ext cx="609584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СЕГОДНЯ. ТРИ РАЗА.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1296630"/>
            <a:ext cx="670543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2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Следующая дверь — первая попытка.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4105731"/>
            <a:ext cx="6095848" cy="146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2800" spc="-128" kern="100" dirty="0">
                <a:solidFill>
                  <a:srgbClr val="1A47A8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21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609585" y="5543629"/>
            <a:ext cx="670543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Через неделю — двадцать один раз.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585" y="6143625"/>
            <a:ext cx="1523962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566" y="6540500"/>
            <a:ext cx="7480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3"/>
            <a:ext cx="10972526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0F1A26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ПРИЁМЫ В ЭТОЙ РЕЧИ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1696561"/>
            <a:ext cx="109725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1A47A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Внимание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212754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Паттерн-разрыв · риторические вопросы · сторителлинг · встроенные команды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383379"/>
            <a:ext cx="109725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1A47A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Доверие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3814366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Социальное доказательство · авторитет · взаимность · последовательность · единство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5070197"/>
            <a:ext cx="10972526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dirty="0">
                <a:solidFill>
                  <a:srgbClr val="1A47A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Действие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5501184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Обработка возражений · loss aversion · future pacing · дефицит · обязательство · правило трёх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585" y="2919214"/>
            <a:ext cx="10972526" cy="1270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4606032"/>
            <a:ext cx="10972526" cy="12700"/>
          </a:xfrm>
          <a:prstGeom prst="rect">
            <a:avLst/>
          </a:prstGeom>
          <a:solidFill>
            <a:srgbClr val="A9B7C8"/>
          </a:solidFill>
          <a:ln/>
        </p:spPr>
      </p:sp>
      <p:sp>
        <p:nvSpPr>
          <p:cNvPr id="11" name="Text 9"/>
          <p:cNvSpPr/>
          <p:nvPr/>
        </p:nvSpPr>
        <p:spPr>
          <a:xfrm>
            <a:off x="11871623" y="6540500"/>
            <a:ext cx="3200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230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683000"/>
            <a:ext cx="6984825" cy="2621161"/>
          </a:xfrm>
          <a:prstGeom prst="rect">
            <a:avLst/>
          </a:prstGeom>
          <a:solidFill>
            <a:srgbClr val="CDD8E6"/>
          </a:solidFill>
          <a:ln/>
        </p:spPr>
      </p:sp>
      <p:sp>
        <p:nvSpPr>
          <p:cNvPr id="3" name="Shape 1"/>
          <p:cNvSpPr/>
          <p:nvPr/>
        </p:nvSpPr>
        <p:spPr>
          <a:xfrm>
            <a:off x="939776" y="4060825"/>
            <a:ext cx="1581110" cy="57150"/>
          </a:xfrm>
          <a:prstGeom prst="roundRect">
            <a:avLst>
              <a:gd name="adj" fmla="val 49999"/>
            </a:avLst>
          </a:prstGeom>
          <a:solidFill>
            <a:srgbClr val="1A47A8"/>
          </a:solidFill>
          <a:ln/>
        </p:spPr>
      </p:sp>
      <p:sp>
        <p:nvSpPr>
          <p:cNvPr id="4" name="Text 2"/>
          <p:cNvSpPr/>
          <p:nvPr/>
        </p:nvSpPr>
        <p:spPr>
          <a:xfrm>
            <a:off x="939776" y="4515802"/>
            <a:ext cx="6324442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6800" spc="-68" kern="100" dirty="0">
                <a:solidFill>
                  <a:srgbClr val="000000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СПАСИБО</a:t>
            </a:r>
            <a:endParaRPr lang="en-US" sz="68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6800" spc="-68" kern="100" dirty="0">
                <a:solidFill>
                  <a:srgbClr val="000000"/>
                </a:solidFill>
                <a:latin typeface="Fira Sans Extra Condensed ExtraBold" pitchFamily="34" charset="0"/>
                <a:ea typeface="Fira Sans Extra Condensed ExtraBold" pitchFamily="34" charset="-122"/>
                <a:cs typeface="Fira Sans Extra Condensed ExtraBold" pitchFamily="34" charset="-120"/>
              </a:rPr>
              <a:t>ЗА ВНИМАНИЕ</a:t>
            </a:r>
            <a:endParaRPr lang="en-US" sz="6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2026-10-20T12:36:38Z</dcterms:created>
  <dcterms:modified xsi:type="dcterms:W3CDTF">2026-10-20T12:36:38Z</dcterms:modified>
</cp:coreProperties>
</file>